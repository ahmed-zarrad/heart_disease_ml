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5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with Explainable 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Project </a:t>
            </a:r>
            <a:b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 Artificial Intelligence and Data Engineering — Academic Year 2026–2027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Ragab Elsinousi Abdalhady — ID: 722876   |   Ahmed Zarrad — ID: 722204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26/07/2026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· features · EDA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Experiments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model selection · hyperparameter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EF2F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C2B4A"/>
                </a:solidFill>
              </a:rPr>
              <a:t>PART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cross-validation · final model performance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techniques · consistency with domain knowledge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0F5F4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8F84"/>
                </a:solidFill>
              </a:rPr>
              <a:t>PART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· limitations ·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Pipeline &amp;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· feature engineering · model selection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· evaluation · test-set results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heart disease from routine clinical and demographic patient data.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supervised binary classification — disease present (1) vs absent (0).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a leading global cause of death; early screening speeds up triage and treatment.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clinicians need predictions that are both accurate and interpretable — a black box is not enough.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Heart Failure Prediction — 918 samples, 11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HeartDisease: presence (1) / absence (0)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numerical, 5 categorical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18.7% (29.9% in class 1); RestingBP 0.1%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29809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 / 44.7% — close to balanced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(5-fold CV) / 20% test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+ accuracy, precision, recall, F1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Feature distributions by class — Age, MaxHR and Oldpeak separate best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6344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Scatter matrix of the most relevant numeric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class: older patients, higher Oldpeak, lower MaxHR  ·  Cholesterol zero-coded missing in 18.7% of records (29.9% class 1 vs 4.9% class 0)  ·  Classes near-balanced (55.3% / 44.7%) → stratified splits suffice</a:t>
            </a:r>
            <a:endParaRPr lang="en-US" sz="950" dirty="0"/>
          </a:p>
        </p:txBody>
      </p:sp>
      <p:pic>
        <p:nvPicPr>
          <p:cNvPr id="15" name="Picture 14" descr="01_boxplots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30" y="1280160"/>
            <a:ext cx="2504938" cy="1325880"/>
          </a:xfrm>
          <a:prstGeom prst="rect">
            <a:avLst/>
          </a:prstGeom>
        </p:spPr>
      </p:pic>
      <p:pic>
        <p:nvPicPr>
          <p:cNvPr id="16" name="Picture 15" descr="02_scatter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409" y="1280160"/>
            <a:ext cx="133486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features — the 11 original clinical variables are used directly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 for the 6 numeric features (incl. FastingBS)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the 5 categorical variables (handle_unknown='ignore')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/ most-frequent imputation; zero-coded RestingBP &amp; Cholesterol treated as missing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elimination — all 11 variables retained deliberately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computed for interpretation, not removal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assessed on the full CV-validated pipeline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count: 11 features (6 numeric + 5 categorical)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has direct clinical meaning: stress test, symptoms, vitals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Low-ranked features kept — medical variables act through interactions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importance ranking shown in the Explainability part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Avoiding Data Leakage &amp; Bias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4A6587"/>
          </a:solidFill>
          <a:ln w="12700">
            <a:solidFill>
              <a:srgbClr val="4A65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fold)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fitted only on training folds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sklearn Pipeline: ColumnTransformer (impute + scale + encode) ending in the classifier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 created before any fitting; no val/test information reaches training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needed — mild 55/45 imbalance; stratification 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CV keeps the class ratio in every fold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Threshold-free ROC-AUC + per-class precision / recall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Justification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0877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ranking quality, threshold-independent, robust to mild imbalance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(missed disease) ≫ FP (extra test) → favor recall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 and F1 also reported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Hyperparameter Optimization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616098"/>
            <a:ext cx="4069080" cy="746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Box plots of cross-validated scores across candidate models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(accuracy, precision, recall, ROC-AUC per fold)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736592" y="1554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models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DT, RF, GB, SVM, KNN (+ XGBoost) — linear, tree, margin, instance-based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10512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strategy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18562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 cross-validation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12264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ROC-AUC + fold stability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414016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63640" y="24597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0.9261 ± 0.0251 CV ROC-AUC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61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6364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(GridSearchCV)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30632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63640" y="30632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{100–300}, max_depth {None, 5, 10}, min_samples_split {2, 5}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319272"/>
            <a:ext cx="4069080" cy="283464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3649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100, max_depth = 5, min_samples_split = 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621024"/>
            <a:ext cx="4069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666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3666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 &amp; Wilcoxon vs runners-up: n.s. at α = 0.05</a:t>
            </a:r>
            <a:endParaRPr lang="en-US" sz="950" dirty="0"/>
          </a:p>
        </p:txBody>
      </p:sp>
      <p:pic>
        <p:nvPicPr>
          <p:cNvPr id="35" name="Picture 34" descr="04_cv_score_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579" y="1280160"/>
            <a:ext cx="1872041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Confusion matrix on the hold-out test set (n = 184)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6344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ROC curve on the test set — AUC = 0.93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(Test Set)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51460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1460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(test)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1772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0.9324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(test)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LR (CV ROC-AUC)</a:t>
            </a:r>
            <a:endParaRPr lang="en-US" sz="900" dirty="0"/>
          </a:p>
        </p:txBody>
      </p:sp>
      <p:pic>
        <p:nvPicPr>
          <p:cNvPr id="26" name="Picture 25" descr="06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1280160"/>
            <a:ext cx="1657350" cy="1325880"/>
          </a:xfrm>
          <a:prstGeom prst="rect">
            <a:avLst/>
          </a:prstGeom>
        </p:spPr>
      </p:pic>
      <p:pic>
        <p:nvPicPr>
          <p:cNvPr id="27" name="Picture 26" descr="07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165" y="1280160"/>
            <a:ext cx="165735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CRITICAL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work? · What did it get wrong and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directions · domain impact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Explainability: What Drives the Model Overall?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670048"/>
          </a:xfrm>
          <a:prstGeom prst="roundRect">
            <a:avLst>
              <a:gd name="adj" fmla="val 2740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825862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Mean |SHAP| value per feature — global importance ranking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|SHAP|: consistent additive attributions on the full pipeline (complements permutation importance)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— ST_Slope, ChestPainType, Oldpeak, ExerciseAngina — match clinical expectations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Surprising: Age ranks low — its signal is absorbed by the stress-test variables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results: strong cardiac indicators, not weak proxies, drive predictions</a:t>
            </a:r>
            <a:endParaRPr lang="en-US" sz="1100" dirty="0"/>
          </a:p>
        </p:txBody>
      </p:sp>
      <p:pic>
        <p:nvPicPr>
          <p:cNvPr id="14" name="Picture 13" descr="08_shap_mean_ab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80" y="1280160"/>
            <a:ext cx="1623039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Explainability: Why This Specific Prediction?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670048"/>
          </a:xfrm>
          <a:prstGeom prst="roundRect">
            <a:avLst>
              <a:gd name="adj" fmla="val 2740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825862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SHAP waterfall for one representative patient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predicted positive: risk f(x) = 0.62 vs baseline E[f(X)] = 0.53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disease: high Oldpeak (+0.12), ASY chest pain (+0.06), high FastingBS (+0.05)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disease: upward ST_Slope (−0.09), no exercise angina — same features as the global ranking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coherent: ischemia markers raise risk, a normal exercise response lowers 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cases show the same pattern with mixed evidence — scores land near the 0.5 threshold</a:t>
            </a:r>
            <a:endParaRPr lang="en-US" sz="1100" dirty="0"/>
          </a:p>
        </p:txBody>
      </p:sp>
      <p:pic>
        <p:nvPicPr>
          <p:cNvPr id="14" name="Picture 13" descr="09_shap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760" y="1280160"/>
            <a:ext cx="1621678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Did the Model Get Wrong and Why?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069080" cy="2423160"/>
          </a:xfrm>
          <a:prstGeom prst="roundRect">
            <a:avLst>
              <a:gd name="adj" fmla="val 3019"/>
            </a:avLst>
          </a:prstGeom>
          <a:solidFill>
            <a:srgbClr val="F0F4FA"/>
          </a:solidFill>
          <a:ln w="1524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672791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Confusion matrix view: 8 FN and 14 FP on the test set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false negatives: mild profiles — high MaxHR, low Oldpeak, ST_Slope = Up, no angina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false positives: ASY/ATA chest pain, flat or down ST_Slope, moderate Oldpeak &amp; MaxHR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on errors: conflicting contributions, final score near the decision threshold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borderline stress-test patterns are genuinely ambiguous, even clinically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mode: under-scores mild positives, over-scores symptomatic negatives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703320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7947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 (if applicable)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078224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results on this dataset typically reach 80–90% accuracy; our 88.0% accuracy / 0.932 ROC-AUC is competitive. Many public pipelines fit preprocessing outside CV (leakage); ours fits everything per fold, so our estimate is more conservative — and more credible.</a:t>
            </a:r>
            <a:endParaRPr lang="en-US" sz="1050" dirty="0"/>
          </a:p>
        </p:txBody>
      </p:sp>
      <p:pic>
        <p:nvPicPr>
          <p:cNvPr id="13" name="Picture 12" descr="06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5" y="1280160"/>
            <a:ext cx="165735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Impact, Limitations &amp; Future Directions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support in routine check-ups: flags patients for cardiology referral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gives per-patient prediction + SHAP explanation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missed disease (dangerous) ≫ FP = one extra test (acceptable)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 — the final judgement stays with the clinician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samples from a single public source — limited generalization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lifestyle or history features (smoking, family history, medication)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18.7% imputed — missingness correlates with the label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hold-out split; no external or prospective validation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external clinical cohorts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 + cost-sensitive thresholds for screening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features: lab history, lifestyle, ECG time series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evaluation in a real clinical workflow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heart-disease screening framed as binary classification on 918 patient records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 via stratified 5-fold CV: 0.8804 accuracy, 0.9324 ROC-AUC on the hold-out test set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the model reasons like a clinician: stress-test variables dominate, errors sit on borderline profiles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single-source dataset — next steps: external validation and probability calibration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703320"/>
            <a:ext cx="8321040" cy="13716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Ragab Elsinousi Abdalhady  &amp;  Ahmed Zarrad   ·   ahmedxzarrad@gmail.com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1775</Words>
  <Application>Microsoft Macintosh PowerPoint</Application>
  <PresentationFormat>Presentazione su schermo (16:9)</PresentationFormat>
  <Paragraphs>249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&amp; Machine Learning — Project Presentation Template</dc:title>
  <dc:subject>PptxGenJS Presentation</dc:subject>
  <dc:creator>PptxGenJS</dc:creator>
  <cp:lastModifiedBy>Francesco Pistolesi</cp:lastModifiedBy>
  <cp:revision>2</cp:revision>
  <dcterms:created xsi:type="dcterms:W3CDTF">2026-05-31T14:27:00Z</dcterms:created>
  <dcterms:modified xsi:type="dcterms:W3CDTF">2026-05-31T17:31:13Z</dcterms:modified>
</cp:coreProperties>
</file>