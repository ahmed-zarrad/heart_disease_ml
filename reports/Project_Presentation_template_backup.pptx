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55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MACHINE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Title]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1488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Machine Learning Project </a:t>
            </a:r>
            <a:b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in Artificial Intelligence and Data Engineering — Academic Year 20XX–20XX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606040"/>
            <a:ext cx="8321040" cy="18288"/>
          </a:xfrm>
          <a:prstGeom prst="rect">
            <a:avLst/>
          </a:prstGeom>
          <a:solidFill>
            <a:srgbClr val="2E4A70"/>
          </a:solidFill>
          <a:ln w="12700">
            <a:solidFill>
              <a:srgbClr val="2E4A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27432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[FirstName LastName — ID: XXXXXXX]   |   [FirstName LastName — ID: XXXXXXX]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3127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[DD/MM/YYYY]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4114800"/>
            <a:ext cx="8321040" cy="685800"/>
          </a:xfrm>
          <a:prstGeom prst="roundRect">
            <a:avLst>
              <a:gd name="adj" fmla="val 10667"/>
            </a:avLst>
          </a:prstGeom>
          <a:solidFill>
            <a:srgbClr val="243756"/>
          </a:solidFill>
          <a:ln w="12700">
            <a:solidFill>
              <a:srgbClr val="2E4A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94360" y="41788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time: 10 minutes.   The slide structure is a template — adapt it to your project, but make sure all key aspects are covered: problem, pipeline, experiments, results, and critical discussion.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TEMPLATE GUIDE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Template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594360"/>
          </a:xfrm>
          <a:prstGeom prst="roundRect">
            <a:avLst>
              <a:gd name="adj" fmla="val 12308"/>
            </a:avLst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Delete this slide before presenting. The blue boxes on each slide are instructions — remove them too.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template suggests a structure for a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project presentation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the number of slides and their content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your specific project: not every section needs the same amount of space.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all [ placeholder ] text with your actual content.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figure placeholder boxes with your actual charts and plots.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92024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presentation has two parts: a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part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(pipeline, experiments, results) and a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part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(discussion, explainability, limitations, future work).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read the slides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them as anchors for a spoken narrative. The text is in the report! The presentation should be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</a:t>
            </a:r>
            <a:r>
              <a:rPr lang="en-US" sz="1100" b="1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engaging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clarity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completeness: one key message per slide.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874520"/>
            <a:ext cx="18288" cy="28346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2529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2070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Dataset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1453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 · features · EDA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6072" y="160934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11480" y="19568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114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938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Experiments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218541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· model selection · hyperparameter optimization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199339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EEF2FA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138160" y="1993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1C2B4A"/>
                </a:solidFill>
              </a:rPr>
              <a:t>PART 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76072" y="234086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11480" y="26883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1148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6700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4400" y="29169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cross-validation · final model performance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" y="307238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11480" y="34198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1148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401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4400" y="3648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&amp; local techniques · consistency with domain knowledge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38160" y="345643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E0F5F4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8138160" y="34564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008F84"/>
                </a:solidFill>
              </a:rPr>
              <a:t>PART 2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76072" y="380390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411480" y="41513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1148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4133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Discussion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14400" y="437997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· limitations · future directions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TECHNICAL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Pipeline &amp; Results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27889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· feature engineering · model selection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 · evaluation · test-set results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&amp; Dataset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4069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[Briefly and 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intuitively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describe the application domain and the specific ML task]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[Task type: classification / regression / clustering / forecasting]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[Why this problem matters — practical or scientific relevance]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challenge or difficulty in solving this problem]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3456432"/>
            <a:ext cx="4069080" cy="621792"/>
          </a:xfrm>
          <a:prstGeom prst="roundRect">
            <a:avLst>
              <a:gd name="adj" fmla="val 11765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39496" y="3529584"/>
            <a:ext cx="3813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sentences per bullet. Focus on what makes this problem interesting and non-trivial. Do not describe your solution yet.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15568"/>
            <a:ext cx="4069080" cy="2962656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828032" y="1225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2" name="Text 10"/>
          <p:cNvSpPr/>
          <p:nvPr/>
        </p:nvSpPr>
        <p:spPr>
          <a:xfrm>
            <a:off x="4736592" y="16093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35040" y="16093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Binary classification]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84708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736592" y="18836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35040" y="188366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[source, N samples, M features]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12140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736592" y="21579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0" y="21579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[variable name and meaning]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39572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736592" y="24323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35040" y="243230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 numerical, M categorical]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67004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736592" y="27066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27066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 overall; % per class if relevant]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94436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736592" y="29809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35040" y="29809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54% / 46% — balanced]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21868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736592" y="32552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35040" y="325526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[70% train / 10% val / 20% test]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49300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736592" y="35295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Metric(s)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35040" y="35295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F1-macro, ROC-AUC]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69080" cy="2423160"/>
          </a:xfrm>
          <a:prstGeom prst="roundRect">
            <a:avLst>
              <a:gd name="adj" fmla="val 3019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1897380"/>
            <a:ext cx="4069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A6"/>
                </a:solidFill>
              </a:rPr>
              <a:t>[ YOUR FIGURE HERE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672791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Feature distributions (histograms / box plots grouped by class or target)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63440" y="1170432"/>
            <a:ext cx="4069080" cy="2423160"/>
          </a:xfrm>
          <a:prstGeom prst="roundRect">
            <a:avLst>
              <a:gd name="adj" fmla="val 3019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663440" y="1897380"/>
            <a:ext cx="4069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A6"/>
                </a:solidFill>
              </a:rPr>
              <a:t>[ YOUR FIGURE HERE 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672791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Correlation heatmap or scatter matrix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3703320"/>
            <a:ext cx="8321040" cy="713232"/>
          </a:xfrm>
          <a:prstGeom prst="roundRect">
            <a:avLst>
              <a:gd name="adj" fmla="val 10256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39496" y="3776472"/>
            <a:ext cx="8065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the most informative findings: class imbalance, notable correlations, missing-value patterns (report % overall and per class). These observations should motivate your preprocessing choices in the next slide.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44805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EDA: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[Summarize 2–3 key observations in one sentence each — e.g., class imbalance ratio, most correlated features, missing-value distribution]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51760" cy="1371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2120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new features created from raw data]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[Normalization / standardization strategy]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[Encoding of categorical variables]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[Imputation strategy for missing values]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137160"/>
          </a:xfrm>
          <a:prstGeom prst="rect">
            <a:avLst/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35584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Method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[Method used: filter / wrapper / embedded]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[Criterion: mutual information, importance, …]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selection was validated (CV-based?)]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[Final number of features retained]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08076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2651760" cy="1371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19048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Features?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1792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[Domain justification for retained features]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[Features discarded and why]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[Reference to Figure on next slide]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773168"/>
            <a:ext cx="8321040" cy="274320"/>
          </a:xfrm>
          <a:prstGeom prst="roundRect">
            <a:avLst>
              <a:gd name="adj" fmla="val 26667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39496" y="4846320"/>
            <a:ext cx="8065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each engineering step was applied strictly within CV folds to prevent data leakage. E.g., 'Imputation fitted only on training fold, applied to validation/test.'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Pipeline: Avoiding Data Leakage &amp; Bias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4A6587"/>
          </a:solidFill>
          <a:ln w="12700">
            <a:solidFill>
              <a:srgbClr val="4A658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27632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700784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01368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0" name="Text 8"/>
          <p:cNvSpPr/>
          <p:nvPr/>
        </p:nvSpPr>
        <p:spPr>
          <a:xfrm>
            <a:off x="1801368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63240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136392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36976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236976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98848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572000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72584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672584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34456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007608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08192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108192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(held-out fold)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70064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443216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43800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543800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121408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39496" y="223113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Prevention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" y="2578608"/>
            <a:ext cx="239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preprocessing fitted only on training folds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your specific Pipeline / ColumnTransformer setup]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 information from val/test used during training]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2121408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3374136" y="223113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74136" y="2578608"/>
            <a:ext cx="239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[Strategy used: SMOTE / class weights / none]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[Applied inside CV folds only]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[Metrics chosen to reflect imbalance: F1-macro, AUC, …]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2121408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6208776" y="223113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Justification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08776" y="2578608"/>
            <a:ext cx="239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[Primary metric and why it fits this task]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[Cost of FP vs FN in this domain]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[Additional metrics reported for completeness]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Hyperparameter Optimization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69080" cy="2331720"/>
          </a:xfrm>
          <a:prstGeom prst="roundRect">
            <a:avLst>
              <a:gd name="adj" fmla="val 3137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1869948"/>
            <a:ext cx="4069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A6"/>
                </a:solidFill>
              </a:rPr>
              <a:t>[ YOUR FIGURE HERE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616098"/>
            <a:ext cx="406908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Box plot of cross-validated scores across candidate models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(e.g., F1-macro or RMSE per CV fold per model)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3566160"/>
            <a:ext cx="4069080" cy="594360"/>
          </a:xfrm>
          <a:prstGeom prst="roundRect">
            <a:avLst>
              <a:gd name="adj" fmla="val 12308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39496" y="3639312"/>
            <a:ext cx="38130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CV score distributions, not just mean values. Discuss statistical significance of differences (Wilcoxon test / Student’s t-test).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069080" cy="2834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736592" y="1554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models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63640" y="1554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[list model families considered and why]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810512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736592" y="1856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strategy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63640" y="18562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stratified 5-fold; nested CV if needed]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112264"/>
            <a:ext cx="4069080" cy="2834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736592" y="21579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63640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used to compare models]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414016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736592" y="24597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model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63640" y="24597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[best family and justification]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715768"/>
            <a:ext cx="4069080" cy="2834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736592" y="2761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strategy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[Grid / Random / Bayesian search]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017520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736592" y="3063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63640" y="3063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hyperparameters and ranges]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319272"/>
            <a:ext cx="4069080" cy="2834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736592" y="33649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63640" y="3364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[final hyperparameter values]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621024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736592" y="36667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36667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[test name, statistic, p-value]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69080" cy="2423160"/>
          </a:xfrm>
          <a:prstGeom prst="roundRect">
            <a:avLst>
              <a:gd name="adj" fmla="val 3019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1897380"/>
            <a:ext cx="4069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A6"/>
                </a:solidFill>
              </a:rPr>
              <a:t>[ YOUR FIGURE HERE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672791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Primary result figure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Classification: confusion matrix  |  Regression: predicted vs. actual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Forecasting: actual vs. predicted time series  |  Clustering: 2D projection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63440" y="1170432"/>
            <a:ext cx="4069080" cy="2423160"/>
          </a:xfrm>
          <a:prstGeom prst="roundRect">
            <a:avLst>
              <a:gd name="adj" fmla="val 3019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663440" y="1897380"/>
            <a:ext cx="4069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A6"/>
                </a:solidFill>
              </a:rPr>
              <a:t>[ YOUR FIGURE HERE 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672791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Secondary metric figure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Classification: ROC / PR curve  |  Regression: residual plot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Forecasting: residual over time  |  Clustering: silhouette / elbow curve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3703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(Test Set)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1148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1148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1]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51460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51460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2]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61772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1772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3]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2084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72084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2084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[Baseline]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4846320"/>
            <a:ext cx="8321040" cy="228600"/>
          </a:xfrm>
          <a:prstGeom prst="roundRect">
            <a:avLst>
              <a:gd name="adj" fmla="val 32000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39496" y="4919472"/>
            <a:ext cx="806500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both validation and test scores. If the gap is large, discuss possible reasons (overfitting, distribution shift).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CRITICAL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Discussion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30175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model work? · What did it get wrong and why?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· future directions · domain impact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EXPLAINABILITY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Explainability: What Drives the Model Overall?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69080" cy="2670048"/>
          </a:xfrm>
          <a:prstGeom prst="roundRect">
            <a:avLst>
              <a:gd name="adj" fmla="val 2740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1971446"/>
            <a:ext cx="4069080" cy="1068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A6"/>
                </a:solidFill>
              </a:rPr>
              <a:t>[ YOUR FIGURE HERE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825862"/>
            <a:ext cx="4069080" cy="85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Global explainability figure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e.g., Mean |SHAP| bar chart or permutation importance ranking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[Technique used and why it is appropriate for this model]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[Most important features — are they expected from domain knowledge?]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[Any surprising or counterintuitive finding?]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[Does the global explanation support or contradict the model's performance?]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931920"/>
            <a:ext cx="8321040" cy="594360"/>
          </a:xfrm>
          <a:prstGeom prst="roundRect">
            <a:avLst>
              <a:gd name="adj" fmla="val 12308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39496" y="4005072"/>
            <a:ext cx="8065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each explanation to the application domain. A SHAP plot is useless without interpreting what the top features mean in practice.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4572000"/>
            <a:ext cx="8321040" cy="457200"/>
          </a:xfrm>
          <a:prstGeom prst="roundRect">
            <a:avLst>
              <a:gd name="adj" fmla="val 16000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39496" y="4645152"/>
            <a:ext cx="806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techniques seen in class: permutation importance, mean |SHAP| (beeswarm), partial dependence plots, SAGE values.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EXPLAINABILITY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Explainability: Why This Specific Prediction?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69080" cy="2670048"/>
          </a:xfrm>
          <a:prstGeom prst="roundRect">
            <a:avLst>
              <a:gd name="adj" fmla="val 2740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1971446"/>
            <a:ext cx="4069080" cy="1068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A6"/>
                </a:solidFill>
              </a:rPr>
              <a:t>[ YOUR FIGURE HERE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825862"/>
            <a:ext cx="4069080" cy="85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Local explainability figure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e.g., SHAP waterfall / force plot for a representative sample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or LIME bar chart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specific sample analyzed — its features and ground truth]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features pushed the prediction toward the output?]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the explanation consistent with the global importance ranking?]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it consistent with domain knowledge?]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[Show at least one correctly predicted and one misclassified sample]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931920"/>
            <a:ext cx="8321040" cy="594360"/>
          </a:xfrm>
          <a:prstGeom prst="roundRect">
            <a:avLst>
              <a:gd name="adj" fmla="val 12308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39496" y="4005072"/>
            <a:ext cx="8065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just show the plot — narrate it. Walk the audience through what the model 'saw' and whether that reasoning makes sense in the domain.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4572000"/>
            <a:ext cx="8321040" cy="457200"/>
          </a:xfrm>
          <a:prstGeom prst="roundRect">
            <a:avLst>
              <a:gd name="adj" fmla="val 16000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39496" y="4645152"/>
            <a:ext cx="806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techniques seen in class: SHAP force/waterfall/interaction plots, LIME, anchors, counterfactual explanations.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CRITICAL DISCUSSION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Analysis: What Did the Model Get Wrong and Why?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69080" cy="2423160"/>
          </a:xfrm>
          <a:prstGeom prst="roundRect">
            <a:avLst>
              <a:gd name="adj" fmla="val 3019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1897380"/>
            <a:ext cx="4069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A6"/>
                </a:solidFill>
              </a:rPr>
              <a:t>[ YOUR FIGURE HERE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672791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Error characterization figure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e.g., misclassified samples in feature space,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error histogram, SHAP for wrong predictions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Reverse-Engineering Errors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patterns do misclassified / high-error samples share?]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features take unusual values in these samples?]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do the local SHAP explanations reveal about these cases?]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 the errors understandable given the domain?]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 there systematic failure modes (e.g., rare subgroups)?]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703320"/>
            <a:ext cx="8321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94360" y="37947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Prior Work (if applicable)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078224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[If a published baseline exists for the same task, compare results. If your numbers differ, formulate explicit hypotheses: different feature sets? different train/test split? class imbalance handling? State clearly what you know and what you speculate.]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CRITICAL DISCUSSION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Impact, Limitations &amp; Future Directions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51760" cy="137160"/>
          </a:xfrm>
          <a:prstGeom prst="rect">
            <a:avLst/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2120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Impact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9496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would this system be used in practice?]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decisions would it support or automate?]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is the cost of errors in this domain (FP vs FN)?]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level of trust / human oversight is required?]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137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35584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74136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[Dataset size, recency, or representativeness]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[Features that could not be obtained]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 assumptions that may not hold]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[Evaluation limitations (single dataset, no deployment test)]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08076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2651760" cy="1371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19048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08776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[Larger or more diverse dataset]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[Additional features from domain knowledge]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[More sophisticated models or ensembles]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[Deployment study with real-world feedback]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773168"/>
            <a:ext cx="8321040" cy="320040"/>
          </a:xfrm>
          <a:prstGeom prst="roundRect">
            <a:avLst>
              <a:gd name="adj" fmla="val 22857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39496" y="4846320"/>
            <a:ext cx="80650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is the most important one for showcasing intellectual maturity. Do not treat limitations as failures — frame them as honest appraisals and opportunities. The audience respects a presenter who knows what their model cannot do.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11480" y="2148840"/>
            <a:ext cx="8321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[One-sentence summary of the problem and task]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best model chosen and how it was validated]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most interesting finding from explainability or error analysis]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most important limitation and next step]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3703320"/>
            <a:ext cx="8321040" cy="13716"/>
          </a:xfrm>
          <a:prstGeom prst="rect">
            <a:avLst/>
          </a:prstGeom>
          <a:solidFill>
            <a:srgbClr val="2E4A70"/>
          </a:solidFill>
          <a:ln w="12700">
            <a:solidFill>
              <a:srgbClr val="2E4A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[FirstName LastName]   ·   [email@domain.com]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41605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1775</Words>
  <Application>Microsoft Macintosh PowerPoint</Application>
  <PresentationFormat>Presentazione su schermo (16:9)</PresentationFormat>
  <Paragraphs>249</Paragraphs>
  <Slides>16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 &amp; Machine Learning — Project Presentation Template</dc:title>
  <dc:subject>PptxGenJS Presentation</dc:subject>
  <dc:creator>PptxGenJS</dc:creator>
  <cp:lastModifiedBy>Francesco Pistolesi</cp:lastModifiedBy>
  <cp:revision>2</cp:revision>
  <dcterms:created xsi:type="dcterms:W3CDTF">2026-05-31T14:27:00Z</dcterms:created>
  <dcterms:modified xsi:type="dcterms:W3CDTF">2026-05-31T17:31:13Z</dcterms:modified>
</cp:coreProperties>
</file>